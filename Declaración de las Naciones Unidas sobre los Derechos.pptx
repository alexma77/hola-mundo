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1"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28403" y="945913"/>
            <a:ext cx="8637073" cy="2618554"/>
          </a:xfrm>
        </p:spPr>
        <p:txBody>
          <a:bodyPr bIns="0" anchor="b">
            <a:normAutofit/>
          </a:bodyPr>
          <a:lstStyle>
            <a:lvl1pPr algn="l">
              <a:defRPr sz="66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28404" y="3564467"/>
            <a:ext cx="8637072" cy="1071095"/>
          </a:xfrm>
        </p:spPr>
        <p:txBody>
          <a:bodyPr tIns="91440" bIns="91440">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1C74541-4FA4-4521-8EE2-1B429CE66F5C}" type="datetimeFigureOut">
              <a:rPr lang="es-EC" smtClean="0"/>
              <a:t>12/6/2024</a:t>
            </a:fld>
            <a:endParaRPr lang="es-EC"/>
          </a:p>
        </p:txBody>
      </p:sp>
      <p:sp>
        <p:nvSpPr>
          <p:cNvPr id="5" name="Footer Placeholder 4"/>
          <p:cNvSpPr>
            <a:spLocks noGrp="1"/>
          </p:cNvSpPr>
          <p:nvPr>
            <p:ph type="ftr" sz="quarter" idx="11"/>
          </p:nvPr>
        </p:nvSpPr>
        <p:spPr>
          <a:xfrm>
            <a:off x="1127124" y="329307"/>
            <a:ext cx="5943668" cy="309201"/>
          </a:xfrm>
        </p:spPr>
        <p:txBody>
          <a:bodyPr/>
          <a:lstStyle/>
          <a:p>
            <a:endParaRPr lang="es-EC"/>
          </a:p>
        </p:txBody>
      </p:sp>
      <p:sp>
        <p:nvSpPr>
          <p:cNvPr id="6" name="Slide Number Placeholder 5"/>
          <p:cNvSpPr>
            <a:spLocks noGrp="1"/>
          </p:cNvSpPr>
          <p:nvPr>
            <p:ph type="sldNum" sz="quarter" idx="12"/>
          </p:nvPr>
        </p:nvSpPr>
        <p:spPr>
          <a:xfrm>
            <a:off x="9924392" y="134930"/>
            <a:ext cx="811019" cy="503578"/>
          </a:xfrm>
        </p:spPr>
        <p:txBody>
          <a:bodyPr/>
          <a:lstStyle/>
          <a:p>
            <a:fld id="{794BC526-AF97-46DC-816B-CFDDD9D0639A}" type="slidenum">
              <a:rPr lang="es-EC" smtClean="0"/>
              <a:t>‹Nº›</a:t>
            </a:fld>
            <a:endParaRPr lang="es-EC"/>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0986124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lvl1pPr>
              <a:defRPr sz="1200"/>
            </a:lvl1pPr>
          </a:lstStyle>
          <a:p>
            <a:fld id="{41C74541-4FA4-4521-8EE2-1B429CE66F5C}" type="datetimeFigureOut">
              <a:rPr lang="es-EC" smtClean="0"/>
              <a:t>12/6/2024</a:t>
            </a:fld>
            <a:endParaRPr lang="es-EC"/>
          </a:p>
        </p:txBody>
      </p:sp>
      <p:sp>
        <p:nvSpPr>
          <p:cNvPr id="5" name="Footer Placeholder 4"/>
          <p:cNvSpPr>
            <a:spLocks noGrp="1"/>
          </p:cNvSpPr>
          <p:nvPr>
            <p:ph type="ftr" sz="quarter" idx="11"/>
          </p:nvPr>
        </p:nvSpPr>
        <p:spPr/>
        <p:txBody>
          <a:bodyPr/>
          <a:lstStyle>
            <a:lvl1pPr>
              <a:defRPr sz="1200"/>
            </a:lvl1pPr>
          </a:lstStyle>
          <a:p>
            <a:endParaRPr lang="es-EC"/>
          </a:p>
        </p:txBody>
      </p:sp>
      <p:sp>
        <p:nvSpPr>
          <p:cNvPr id="6" name="Slide Number Placeholder 5"/>
          <p:cNvSpPr>
            <a:spLocks noGrp="1"/>
          </p:cNvSpPr>
          <p:nvPr>
            <p:ph type="sldNum" sz="quarter" idx="12"/>
          </p:nvPr>
        </p:nvSpPr>
        <p:spPr/>
        <p:txBody>
          <a:bodyPr/>
          <a:lstStyle/>
          <a:p>
            <a:fld id="{794BC526-AF97-46DC-816B-CFDDD9D0639A}" type="slidenum">
              <a:rPr lang="es-EC" smtClean="0"/>
              <a:t>‹Nº›</a:t>
            </a:fld>
            <a:endParaRPr lang="es-EC"/>
          </a:p>
        </p:txBody>
      </p:sp>
      <p:pic>
        <p:nvPicPr>
          <p:cNvPr id="24" name="Picture 2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143781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29167" y="1756129"/>
            <a:ext cx="8619060" cy="2050065"/>
          </a:xfrm>
        </p:spPr>
        <p:txBody>
          <a:bodyPr anchor="b">
            <a:normAutofit/>
          </a:bodyPr>
          <a:lstStyle>
            <a:lvl1pPr algn="l">
              <a:defRPr sz="3600"/>
            </a:lvl1pPr>
          </a:lstStyle>
          <a:p>
            <a:r>
              <a:rPr lang="es-ES"/>
              <a:t>Haga clic para modificar el estilo de título del patrón</a:t>
            </a:r>
            <a:endParaRPr lang="en-US" dirty="0"/>
          </a:p>
        </p:txBody>
      </p:sp>
      <p:sp>
        <p:nvSpPr>
          <p:cNvPr id="3" name="Text Placeholder 2"/>
          <p:cNvSpPr>
            <a:spLocks noGrp="1"/>
          </p:cNvSpPr>
          <p:nvPr>
            <p:ph type="body" idx="1" hasCustomPrompt="1"/>
          </p:nvPr>
        </p:nvSpPr>
        <p:spPr>
          <a:xfrm>
            <a:off x="1129166" y="3806195"/>
            <a:ext cx="861906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1C74541-4FA4-4521-8EE2-1B429CE66F5C}" type="datetimeFigureOut">
              <a:rPr lang="es-EC" smtClean="0"/>
              <a:t>12/6/2024</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794BC526-AF97-46DC-816B-CFDDD9D0639A}" type="slidenum">
              <a:rPr lang="es-EC" smtClean="0"/>
              <a:t>‹Nº›</a:t>
            </a:fld>
            <a:endParaRPr lang="es-EC"/>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4165435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131052" y="958037"/>
            <a:ext cx="9605635" cy="1059305"/>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29166" y="2165621"/>
            <a:ext cx="4645152" cy="329385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095606" y="2171769"/>
            <a:ext cx="4645152" cy="328709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1C74541-4FA4-4521-8EE2-1B429CE66F5C}" type="datetimeFigureOut">
              <a:rPr lang="es-EC" smtClean="0"/>
              <a:t>12/6/2024</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794BC526-AF97-46DC-816B-CFDDD9D0639A}" type="slidenum">
              <a:rPr lang="es-EC" smtClean="0"/>
              <a:t>‹Nº›</a:t>
            </a:fld>
            <a:endParaRPr lang="es-EC"/>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457918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129166" y="953336"/>
            <a:ext cx="9607661" cy="105631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29166" y="2169727"/>
            <a:ext cx="4645152" cy="801943"/>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29166" y="2974448"/>
            <a:ext cx="4645152" cy="24938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094337" y="2173181"/>
            <a:ext cx="4645152" cy="802237"/>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094337" y="2971669"/>
            <a:ext cx="4645152" cy="248719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1C74541-4FA4-4521-8EE2-1B429CE66F5C}" type="datetimeFigureOut">
              <a:rPr lang="es-EC" smtClean="0"/>
              <a:t>12/6/2024</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794BC526-AF97-46DC-816B-CFDDD9D0639A}" type="slidenum">
              <a:rPr lang="es-EC" smtClean="0"/>
              <a:t>‹Nº›</a:t>
            </a:fld>
            <a:endParaRPr lang="es-EC"/>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663981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1C74541-4FA4-4521-8EE2-1B429CE66F5C}" type="datetimeFigureOut">
              <a:rPr lang="es-EC" smtClean="0"/>
              <a:t>12/6/2024</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794BC526-AF97-46DC-816B-CFDDD9D0639A}" type="slidenum">
              <a:rPr lang="es-EC" smtClean="0"/>
              <a:t>‹Nº›</a:t>
            </a:fld>
            <a:endParaRPr lang="es-EC"/>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981343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74541-4FA4-4521-8EE2-1B429CE66F5C}" type="datetimeFigureOut">
              <a:rPr lang="es-EC" smtClean="0"/>
              <a:t>12/6/2024</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794BC526-AF97-46DC-816B-CFDDD9D0639A}" type="slidenum">
              <a:rPr lang="es-EC" smtClean="0"/>
              <a:t>‹Nº›</a:t>
            </a:fld>
            <a:endParaRPr lang="es-EC"/>
          </a:p>
        </p:txBody>
      </p:sp>
    </p:spTree>
    <p:extLst>
      <p:ext uri="{BB962C8B-B14F-4D97-AF65-F5344CB8AC3E}">
        <p14:creationId xmlns:p14="http://schemas.microsoft.com/office/powerpoint/2010/main" val="2429455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24291" y="952578"/>
            <a:ext cx="3275013" cy="2322176"/>
          </a:xfrm>
        </p:spPr>
        <p:txBody>
          <a:bodyPr anchor="b">
            <a:normAutofit/>
          </a:bodyPr>
          <a:lstStyle>
            <a:lvl1pPr algn="l">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23334" y="952578"/>
            <a:ext cx="6012470" cy="4505221"/>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24291" y="3274754"/>
            <a:ext cx="3275013" cy="217891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1C74541-4FA4-4521-8EE2-1B429CE66F5C}" type="datetimeFigureOut">
              <a:rPr lang="es-EC" smtClean="0"/>
              <a:t>12/6/2024</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794BC526-AF97-46DC-816B-CFDDD9D0639A}" type="slidenum">
              <a:rPr lang="es-EC" smtClean="0"/>
              <a:t>‹Nº›</a:t>
            </a:fld>
            <a:endParaRPr lang="es-EC"/>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6932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29124" y="1129513"/>
            <a:ext cx="5854872" cy="1924208"/>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28247" y="3053721"/>
            <a:ext cx="5846486" cy="2096013"/>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1125300" y="5469856"/>
            <a:ext cx="5849605" cy="320123"/>
          </a:xfrm>
        </p:spPr>
        <p:txBody>
          <a:bodyPr/>
          <a:lstStyle>
            <a:lvl1pPr algn="l">
              <a:defRPr/>
            </a:lvl1pPr>
          </a:lstStyle>
          <a:p>
            <a:fld id="{41C74541-4FA4-4521-8EE2-1B429CE66F5C}" type="datetimeFigureOut">
              <a:rPr lang="es-EC" smtClean="0"/>
              <a:t>12/6/2024</a:t>
            </a:fld>
            <a:endParaRPr lang="es-EC"/>
          </a:p>
        </p:txBody>
      </p:sp>
      <p:sp>
        <p:nvSpPr>
          <p:cNvPr id="6" name="Footer Placeholder 5"/>
          <p:cNvSpPr>
            <a:spLocks noGrp="1"/>
          </p:cNvSpPr>
          <p:nvPr>
            <p:ph type="ftr" sz="quarter" idx="11"/>
          </p:nvPr>
        </p:nvSpPr>
        <p:spPr>
          <a:xfrm>
            <a:off x="1125300" y="318640"/>
            <a:ext cx="4877818" cy="320931"/>
          </a:xfrm>
        </p:spPr>
        <p:txBody>
          <a:bodyPr/>
          <a:lstStyle/>
          <a:p>
            <a:endParaRPr lang="es-EC"/>
          </a:p>
        </p:txBody>
      </p:sp>
      <p:sp>
        <p:nvSpPr>
          <p:cNvPr id="7" name="Slide Number Placeholder 6"/>
          <p:cNvSpPr>
            <a:spLocks noGrp="1"/>
          </p:cNvSpPr>
          <p:nvPr>
            <p:ph type="sldNum" sz="quarter" idx="12"/>
          </p:nvPr>
        </p:nvSpPr>
        <p:spPr>
          <a:xfrm>
            <a:off x="6176794" y="137408"/>
            <a:ext cx="811019" cy="503578"/>
          </a:xfrm>
        </p:spPr>
        <p:txBody>
          <a:bodyPr/>
          <a:lstStyle/>
          <a:p>
            <a:fld id="{794BC526-AF97-46DC-816B-CFDDD9D0639A}" type="slidenum">
              <a:rPr lang="es-EC" smtClean="0"/>
              <a:t>‹Nº›</a:t>
            </a:fld>
            <a:endParaRPr lang="es-EC"/>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48549" b="36564"/>
          <a:stretch/>
        </p:blipFill>
        <p:spPr>
          <a:xfrm>
            <a:off x="1125460" y="643464"/>
            <a:ext cx="5879592" cy="155448"/>
          </a:xfrm>
          <a:prstGeom prst="rect">
            <a:avLst/>
          </a:prstGeom>
          <a:noFill/>
          <a:ln>
            <a:noFill/>
          </a:ln>
        </p:spPr>
      </p:pic>
    </p:spTree>
    <p:extLst>
      <p:ext uri="{BB962C8B-B14F-4D97-AF65-F5344CB8AC3E}">
        <p14:creationId xmlns:p14="http://schemas.microsoft.com/office/powerpoint/2010/main" val="3074995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1C74541-4FA4-4521-8EE2-1B429CE66F5C}" type="datetimeFigureOut">
              <a:rPr lang="es-EC" smtClean="0"/>
              <a:t>12/6/2024</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794BC526-AF97-46DC-816B-CFDDD9D0639A}" type="slidenum">
              <a:rPr lang="es-EC" smtClean="0"/>
              <a:t>‹Nº›</a:t>
            </a:fld>
            <a:endParaRPr lang="es-EC"/>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550626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4709" y="798973"/>
            <a:ext cx="1615742" cy="4659889"/>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30270" y="798973"/>
            <a:ext cx="7828830" cy="465988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1C74541-4FA4-4521-8EE2-1B429CE66F5C}" type="datetimeFigureOut">
              <a:rPr lang="es-EC" smtClean="0"/>
              <a:t>12/6/2024</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794BC526-AF97-46DC-816B-CFDDD9D0639A}" type="slidenum">
              <a:rPr lang="es-EC" smtClean="0"/>
              <a:t>‹Nº›</a:t>
            </a:fld>
            <a:endParaRPr lang="es-EC"/>
          </a:p>
        </p:txBody>
      </p:sp>
      <p:pic>
        <p:nvPicPr>
          <p:cNvPr id="17" name="Picture 16"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59215" b="36435"/>
          <a:stretch/>
        </p:blipFill>
        <p:spPr>
          <a:xfrm rot="5400000">
            <a:off x="8642279" y="3046916"/>
            <a:ext cx="4663440" cy="155448"/>
          </a:xfrm>
          <a:prstGeom prst="rect">
            <a:avLst/>
          </a:prstGeom>
          <a:noFill/>
          <a:ln>
            <a:noFill/>
          </a:ln>
        </p:spPr>
      </p:pic>
    </p:spTree>
    <p:extLst>
      <p:ext uri="{BB962C8B-B14F-4D97-AF65-F5344CB8AC3E}">
        <p14:creationId xmlns:p14="http://schemas.microsoft.com/office/powerpoint/2010/main" val="665772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3" name="Rectangle 12"/>
          <p:cNvSpPr/>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30270" y="953324"/>
            <a:ext cx="9603275" cy="1049235"/>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30270" y="2171769"/>
            <a:ext cx="9603275" cy="329457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32830" y="330370"/>
            <a:ext cx="2515396"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1C74541-4FA4-4521-8EE2-1B429CE66F5C}" type="datetimeFigureOut">
              <a:rPr lang="es-EC" smtClean="0"/>
              <a:t>12/6/2024</a:t>
            </a:fld>
            <a:endParaRPr lang="es-EC"/>
          </a:p>
        </p:txBody>
      </p:sp>
      <p:sp>
        <p:nvSpPr>
          <p:cNvPr id="5" name="Footer Placeholder 4"/>
          <p:cNvSpPr>
            <a:spLocks noGrp="1"/>
          </p:cNvSpPr>
          <p:nvPr>
            <p:ph type="ftr" sz="quarter" idx="3"/>
          </p:nvPr>
        </p:nvSpPr>
        <p:spPr>
          <a:xfrm>
            <a:off x="1130270"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s-EC"/>
          </a:p>
        </p:txBody>
      </p:sp>
      <p:sp>
        <p:nvSpPr>
          <p:cNvPr id="6" name="Slide Number Placeholder 5"/>
          <p:cNvSpPr>
            <a:spLocks noGrp="1"/>
          </p:cNvSpPr>
          <p:nvPr>
            <p:ph type="sldNum" sz="quarter" idx="4"/>
          </p:nvPr>
        </p:nvSpPr>
        <p:spPr>
          <a:xfrm>
            <a:off x="9918076" y="137408"/>
            <a:ext cx="811019" cy="503578"/>
          </a:xfrm>
          <a:prstGeom prst="rect">
            <a:avLst/>
          </a:prstGeom>
        </p:spPr>
        <p:txBody>
          <a:bodyPr vert="horz" lIns="91440" tIns="45720" rIns="91440" bIns="45720" rtlCol="0" anchor="t"/>
          <a:lstStyle>
            <a:lvl1pPr algn="r">
              <a:defRPr sz="2800">
                <a:solidFill>
                  <a:schemeClr val="accent1"/>
                </a:solidFill>
              </a:defRPr>
            </a:lvl1pPr>
          </a:lstStyle>
          <a:p>
            <a:fld id="{794BC526-AF97-46DC-816B-CFDDD9D0639A}" type="slidenum">
              <a:rPr lang="es-EC" smtClean="0"/>
              <a:t>‹Nº›</a:t>
            </a:fld>
            <a:endParaRPr lang="es-EC"/>
          </a:p>
        </p:txBody>
      </p:sp>
    </p:spTree>
    <p:extLst>
      <p:ext uri="{BB962C8B-B14F-4D97-AF65-F5344CB8AC3E}">
        <p14:creationId xmlns:p14="http://schemas.microsoft.com/office/powerpoint/2010/main" val="1694591045"/>
      </p:ext>
    </p:extLst>
  </p:cSld>
  <p:clrMap bg1="lt1" tx1="dk1" bg2="lt2" tx2="dk2" accent1="accent1" accent2="accent2" accent3="accent3" accent4="accent4" accent5="accent5" accent6="accent6" hlink="hlink" folHlink="folHlink"/>
  <p:sldLayoutIdLst>
    <p:sldLayoutId id="2147484072" r:id="rId1"/>
    <p:sldLayoutId id="2147484073" r:id="rId2"/>
    <p:sldLayoutId id="2147484074" r:id="rId3"/>
    <p:sldLayoutId id="2147484075" r:id="rId4"/>
    <p:sldLayoutId id="2147484076" r:id="rId5"/>
    <p:sldLayoutId id="2147484077" r:id="rId6"/>
    <p:sldLayoutId id="2147484078" r:id="rId7"/>
    <p:sldLayoutId id="2147484079" r:id="rId8"/>
    <p:sldLayoutId id="2147484080" r:id="rId9"/>
    <p:sldLayoutId id="2147484081" r:id="rId10"/>
    <p:sldLayoutId id="2147484082"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0B1BAE-7831-466F-9B00-BCFDF34DE5D9}"/>
              </a:ext>
            </a:extLst>
          </p:cNvPr>
          <p:cNvSpPr>
            <a:spLocks noGrp="1"/>
          </p:cNvSpPr>
          <p:nvPr>
            <p:ph type="title"/>
          </p:nvPr>
        </p:nvSpPr>
        <p:spPr/>
        <p:txBody>
          <a:bodyPr>
            <a:normAutofit/>
          </a:bodyPr>
          <a:lstStyle/>
          <a:p>
            <a:r>
              <a:rPr lang="es-MX" dirty="0"/>
              <a:t>Declaración de las Naciones Unidas sobre los Derechos de los Pueblos Indígenas (2007)</a:t>
            </a:r>
            <a:endParaRPr lang="es-EC" dirty="0"/>
          </a:p>
        </p:txBody>
      </p:sp>
      <p:sp>
        <p:nvSpPr>
          <p:cNvPr id="3" name="Subtítulo 2">
            <a:extLst>
              <a:ext uri="{FF2B5EF4-FFF2-40B4-BE49-F238E27FC236}">
                <a16:creationId xmlns:a16="http://schemas.microsoft.com/office/drawing/2014/main" id="{61BBAD31-296C-4CBA-A32F-D8459FD5F2D1}"/>
              </a:ext>
            </a:extLst>
          </p:cNvPr>
          <p:cNvSpPr>
            <a:spLocks noGrp="1"/>
          </p:cNvSpPr>
          <p:nvPr>
            <p:ph sz="half" idx="1"/>
          </p:nvPr>
        </p:nvSpPr>
        <p:spPr/>
        <p:txBody>
          <a:bodyPr>
            <a:normAutofit fontScale="85000" lnSpcReduction="10000"/>
          </a:bodyPr>
          <a:lstStyle/>
          <a:p>
            <a:r>
              <a:rPr lang="es-MX"/>
              <a:t>Adoptada en 2007, la Declaración de la ONU sobre los Derechos de los Pueblos Indígenas es un hito fundamental que reconoce los derechos colectivos e individuales de los pueblos indígenas, incluyendo su derecho a la autodeterminación, la tierra, el territorio y los recursos. Esta declaración es resultado de décadas de lucha y negociación por parte de líderes y activistas indígenas.</a:t>
            </a:r>
            <a:endParaRPr lang="es-EC"/>
          </a:p>
        </p:txBody>
      </p:sp>
      <p:pic>
        <p:nvPicPr>
          <p:cNvPr id="5" name="Marcador de contenido 4">
            <a:extLst>
              <a:ext uri="{FF2B5EF4-FFF2-40B4-BE49-F238E27FC236}">
                <a16:creationId xmlns:a16="http://schemas.microsoft.com/office/drawing/2014/main" id="{EEB4091C-35B8-4F2F-8DB7-EF342C788907}"/>
              </a:ext>
            </a:extLst>
          </p:cNvPr>
          <p:cNvPicPr>
            <a:picLocks noGrp="1" noChangeAspect="1"/>
          </p:cNvPicPr>
          <p:nvPr>
            <p:ph sz="half" idx="2"/>
          </p:nvPr>
        </p:nvPicPr>
        <p:blipFill>
          <a:blip r:embed="rId2"/>
          <a:stretch>
            <a:fillRect/>
          </a:stretch>
        </p:blipFill>
        <p:spPr>
          <a:xfrm>
            <a:off x="6096001" y="2308837"/>
            <a:ext cx="4856504" cy="3150635"/>
          </a:xfrm>
          <a:prstGeom prst="rect">
            <a:avLst/>
          </a:prstGeom>
        </p:spPr>
      </p:pic>
    </p:spTree>
    <p:extLst>
      <p:ext uri="{BB962C8B-B14F-4D97-AF65-F5344CB8AC3E}">
        <p14:creationId xmlns:p14="http://schemas.microsoft.com/office/powerpoint/2010/main" val="4006819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106231-FDE7-4A76-BAF3-5E5CF5437249}"/>
              </a:ext>
            </a:extLst>
          </p:cNvPr>
          <p:cNvSpPr>
            <a:spLocks noGrp="1"/>
          </p:cNvSpPr>
          <p:nvPr>
            <p:ph type="title"/>
          </p:nvPr>
        </p:nvSpPr>
        <p:spPr/>
        <p:txBody>
          <a:bodyPr>
            <a:normAutofit/>
          </a:bodyPr>
          <a:lstStyle/>
          <a:p>
            <a:r>
              <a:rPr lang="es-EC" dirty="0"/>
              <a:t>Reconocimiento de tierras ancestrales</a:t>
            </a:r>
          </a:p>
        </p:txBody>
      </p:sp>
      <p:sp>
        <p:nvSpPr>
          <p:cNvPr id="3" name="Subtítulo 2">
            <a:extLst>
              <a:ext uri="{FF2B5EF4-FFF2-40B4-BE49-F238E27FC236}">
                <a16:creationId xmlns:a16="http://schemas.microsoft.com/office/drawing/2014/main" id="{04B8FC4A-9870-4EE9-BD1E-27B3358E33B2}"/>
              </a:ext>
            </a:extLst>
          </p:cNvPr>
          <p:cNvSpPr>
            <a:spLocks noGrp="1"/>
          </p:cNvSpPr>
          <p:nvPr>
            <p:ph type="body" sz="half" idx="2"/>
          </p:nvPr>
        </p:nvSpPr>
        <p:spPr/>
        <p:txBody>
          <a:bodyPr>
            <a:normAutofit fontScale="92500" lnSpcReduction="10000"/>
          </a:bodyPr>
          <a:lstStyle/>
          <a:p>
            <a:r>
              <a:rPr lang="es-MX" dirty="0"/>
              <a:t>En varios países, los pueblos indígenas han logrado el reconocimiento legal de sus tierras ancestrales. En Brasil, por ejemplo, la demarcación de tierras indígenas ha sido un logro significativo, permitiendo a estas comunidades mantener su modo de vida tradicional y proteger sus territorios de la explotación industrial.</a:t>
            </a:r>
            <a:endParaRPr lang="es-EC" dirty="0"/>
          </a:p>
        </p:txBody>
      </p:sp>
      <p:pic>
        <p:nvPicPr>
          <p:cNvPr id="5" name="Imagen 4">
            <a:extLst>
              <a:ext uri="{FF2B5EF4-FFF2-40B4-BE49-F238E27FC236}">
                <a16:creationId xmlns:a16="http://schemas.microsoft.com/office/drawing/2014/main" id="{7B281835-53C5-42BC-B1FE-7DB205E90112}"/>
              </a:ext>
            </a:extLst>
          </p:cNvPr>
          <p:cNvPicPr>
            <a:picLocks noChangeAspect="1"/>
          </p:cNvPicPr>
          <p:nvPr/>
        </p:nvPicPr>
        <p:blipFill rotWithShape="1">
          <a:blip r:embed="rId2"/>
          <a:srcRect l="4692" r="4117"/>
          <a:stretch/>
        </p:blipFill>
        <p:spPr>
          <a:xfrm>
            <a:off x="7829550" y="814387"/>
            <a:ext cx="3400426" cy="4457701"/>
          </a:xfrm>
          <a:prstGeom prst="rect">
            <a:avLst/>
          </a:prstGeom>
        </p:spPr>
      </p:pic>
    </p:spTree>
    <p:extLst>
      <p:ext uri="{BB962C8B-B14F-4D97-AF65-F5344CB8AC3E}">
        <p14:creationId xmlns:p14="http://schemas.microsoft.com/office/powerpoint/2010/main" val="3449362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4FAFD5-AC66-4F1C-9F26-08E042EAB2B7}"/>
              </a:ext>
            </a:extLst>
          </p:cNvPr>
          <p:cNvSpPr>
            <a:spLocks noGrp="1"/>
          </p:cNvSpPr>
          <p:nvPr>
            <p:ph type="title"/>
          </p:nvPr>
        </p:nvSpPr>
        <p:spPr/>
        <p:txBody>
          <a:bodyPr>
            <a:normAutofit/>
          </a:bodyPr>
          <a:lstStyle/>
          <a:p>
            <a:r>
              <a:rPr lang="es-MX" dirty="0"/>
              <a:t>Creación de la Organización Nacional Indígena de Colombia (ONIC)</a:t>
            </a:r>
            <a:endParaRPr lang="es-EC" dirty="0"/>
          </a:p>
        </p:txBody>
      </p:sp>
      <p:sp>
        <p:nvSpPr>
          <p:cNvPr id="3" name="Subtítulo 2">
            <a:extLst>
              <a:ext uri="{FF2B5EF4-FFF2-40B4-BE49-F238E27FC236}">
                <a16:creationId xmlns:a16="http://schemas.microsoft.com/office/drawing/2014/main" id="{D5B8C6F6-05EE-4A1C-BB7B-5403F6F53D42}"/>
              </a:ext>
            </a:extLst>
          </p:cNvPr>
          <p:cNvSpPr>
            <a:spLocks noGrp="1"/>
          </p:cNvSpPr>
          <p:nvPr>
            <p:ph sz="half" idx="1"/>
          </p:nvPr>
        </p:nvSpPr>
        <p:spPr/>
        <p:txBody>
          <a:bodyPr>
            <a:normAutofit fontScale="92500" lnSpcReduction="10000"/>
          </a:bodyPr>
          <a:lstStyle/>
          <a:p>
            <a:r>
              <a:rPr lang="es-MX"/>
              <a:t>Fundada en 1982, la ONIC ha sido un actor clave en la defensa de los derechos de los pueblos indígenas en Colombia. Esta organización ha trabajado para promover la autonomía indígena, la protección de sus territorios y el fortalecimiento de sus culturas y lenguas, y ha sido un ejemplo para otros movimientos indígenas en América Latina.</a:t>
            </a:r>
            <a:endParaRPr lang="es-EC"/>
          </a:p>
        </p:txBody>
      </p:sp>
      <p:pic>
        <p:nvPicPr>
          <p:cNvPr id="9" name="Marcador de contenido 8">
            <a:extLst>
              <a:ext uri="{FF2B5EF4-FFF2-40B4-BE49-F238E27FC236}">
                <a16:creationId xmlns:a16="http://schemas.microsoft.com/office/drawing/2014/main" id="{4C560DF3-2D56-4C5F-A5C7-835413B7521B}"/>
              </a:ext>
            </a:extLst>
          </p:cNvPr>
          <p:cNvPicPr>
            <a:picLocks noGrp="1" noChangeAspect="1"/>
          </p:cNvPicPr>
          <p:nvPr>
            <p:ph sz="half" idx="2"/>
          </p:nvPr>
        </p:nvPicPr>
        <p:blipFill>
          <a:blip r:embed="rId2"/>
          <a:stretch>
            <a:fillRect/>
          </a:stretch>
        </p:blipFill>
        <p:spPr>
          <a:xfrm>
            <a:off x="6929439" y="2017342"/>
            <a:ext cx="3686174" cy="3686174"/>
          </a:xfrm>
          <a:prstGeom prst="rect">
            <a:avLst/>
          </a:prstGeom>
        </p:spPr>
      </p:pic>
    </p:spTree>
    <p:extLst>
      <p:ext uri="{BB962C8B-B14F-4D97-AF65-F5344CB8AC3E}">
        <p14:creationId xmlns:p14="http://schemas.microsoft.com/office/powerpoint/2010/main" val="2704196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858003-C171-4084-82E7-7FF1DFFE16D4}"/>
              </a:ext>
            </a:extLst>
          </p:cNvPr>
          <p:cNvSpPr>
            <a:spLocks noGrp="1"/>
          </p:cNvSpPr>
          <p:nvPr>
            <p:ph type="title"/>
          </p:nvPr>
        </p:nvSpPr>
        <p:spPr/>
        <p:txBody>
          <a:bodyPr>
            <a:normAutofit/>
          </a:bodyPr>
          <a:lstStyle/>
          <a:p>
            <a:r>
              <a:rPr lang="es-MX" dirty="0"/>
              <a:t>Participación en la Conferencia Mundial sobre los Pueblos Indígenas (2014)</a:t>
            </a:r>
            <a:endParaRPr lang="es-EC" dirty="0"/>
          </a:p>
        </p:txBody>
      </p:sp>
      <p:sp>
        <p:nvSpPr>
          <p:cNvPr id="3" name="Subtítulo 2">
            <a:extLst>
              <a:ext uri="{FF2B5EF4-FFF2-40B4-BE49-F238E27FC236}">
                <a16:creationId xmlns:a16="http://schemas.microsoft.com/office/drawing/2014/main" id="{FFC4C7C0-E984-4032-882C-26E63EA31678}"/>
              </a:ext>
            </a:extLst>
          </p:cNvPr>
          <p:cNvSpPr>
            <a:spLocks noGrp="1"/>
          </p:cNvSpPr>
          <p:nvPr>
            <p:ph idx="1"/>
          </p:nvPr>
        </p:nvSpPr>
        <p:spPr/>
        <p:txBody>
          <a:bodyPr>
            <a:normAutofit/>
          </a:bodyPr>
          <a:lstStyle/>
          <a:p>
            <a:r>
              <a:rPr lang="es-MX" dirty="0"/>
              <a:t>La Conferencia Mundial sobre los Pueblos Indígenas, celebrada en 2014, proporcionó una plataforma para que los líderes indígenas de todo el mundo discutieran sus problemas y presentaran sus demandas a la comunidad internacional. Este evento subrayó la importancia de la participación indígena en la toma de decisiones globales y reforzó el compromiso de los Estados con los derechos indígenas.</a:t>
            </a:r>
            <a:endParaRPr lang="es-EC" dirty="0"/>
          </a:p>
        </p:txBody>
      </p:sp>
      <p:pic>
        <p:nvPicPr>
          <p:cNvPr id="5" name="Imagen 4">
            <a:extLst>
              <a:ext uri="{FF2B5EF4-FFF2-40B4-BE49-F238E27FC236}">
                <a16:creationId xmlns:a16="http://schemas.microsoft.com/office/drawing/2014/main" id="{458E4EE6-CA9F-4D84-90C2-35F29AABEEBB}"/>
              </a:ext>
            </a:extLst>
          </p:cNvPr>
          <p:cNvPicPr>
            <a:picLocks noChangeAspect="1"/>
          </p:cNvPicPr>
          <p:nvPr/>
        </p:nvPicPr>
        <p:blipFill>
          <a:blip r:embed="rId2"/>
          <a:stretch>
            <a:fillRect/>
          </a:stretch>
        </p:blipFill>
        <p:spPr>
          <a:xfrm>
            <a:off x="3494591" y="4548200"/>
            <a:ext cx="5202818" cy="1836289"/>
          </a:xfrm>
          <a:prstGeom prst="rect">
            <a:avLst/>
          </a:prstGeom>
        </p:spPr>
      </p:pic>
    </p:spTree>
    <p:extLst>
      <p:ext uri="{BB962C8B-B14F-4D97-AF65-F5344CB8AC3E}">
        <p14:creationId xmlns:p14="http://schemas.microsoft.com/office/powerpoint/2010/main" val="1805768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3F7715-92C2-4C69-A8D3-1069B7487C8C}"/>
              </a:ext>
            </a:extLst>
          </p:cNvPr>
          <p:cNvSpPr>
            <a:spLocks noGrp="1"/>
          </p:cNvSpPr>
          <p:nvPr>
            <p:ph type="title"/>
          </p:nvPr>
        </p:nvSpPr>
        <p:spPr/>
        <p:txBody>
          <a:bodyPr>
            <a:normAutofit/>
          </a:bodyPr>
          <a:lstStyle/>
          <a:p>
            <a:r>
              <a:rPr lang="es-MX" dirty="0"/>
              <a:t>Movimientos contra la explotación de recursos naturales</a:t>
            </a:r>
            <a:endParaRPr lang="es-EC" dirty="0"/>
          </a:p>
        </p:txBody>
      </p:sp>
      <p:sp>
        <p:nvSpPr>
          <p:cNvPr id="3" name="Subtítulo 2">
            <a:extLst>
              <a:ext uri="{FF2B5EF4-FFF2-40B4-BE49-F238E27FC236}">
                <a16:creationId xmlns:a16="http://schemas.microsoft.com/office/drawing/2014/main" id="{54166BDC-A33E-45AB-93FA-1669FE5F633F}"/>
              </a:ext>
            </a:extLst>
          </p:cNvPr>
          <p:cNvSpPr>
            <a:spLocks noGrp="1"/>
          </p:cNvSpPr>
          <p:nvPr>
            <p:ph type="body" sz="half" idx="2"/>
          </p:nvPr>
        </p:nvSpPr>
        <p:spPr/>
        <p:txBody>
          <a:bodyPr>
            <a:normAutofit fontScale="85000" lnSpcReduction="10000"/>
          </a:bodyPr>
          <a:lstStyle/>
          <a:p>
            <a:r>
              <a:rPr lang="es-MX"/>
              <a:t>Los pueblos indígenas han liderado movimientos contra la explotación de recursos naturales en sus tierras. Ejemplos incluyen la resistencia del pueblo Standing Rock Sioux contra el oleoducto Dakota Access en Estados Unidos y las luchas de las comunidades indígenas en Ecuador y Perú contra la minería y la extracción de petróleo. Estas acciones han resaltado la importancia de la protección ambiental y los derechos indígenas en la agenda global.</a:t>
            </a:r>
            <a:endParaRPr lang="es-EC"/>
          </a:p>
        </p:txBody>
      </p:sp>
      <p:pic>
        <p:nvPicPr>
          <p:cNvPr id="5" name="Imagen 4">
            <a:extLst>
              <a:ext uri="{FF2B5EF4-FFF2-40B4-BE49-F238E27FC236}">
                <a16:creationId xmlns:a16="http://schemas.microsoft.com/office/drawing/2014/main" id="{80274A65-40AD-49AE-9FBD-451FC44534E4}"/>
              </a:ext>
            </a:extLst>
          </p:cNvPr>
          <p:cNvPicPr>
            <a:picLocks noChangeAspect="1"/>
          </p:cNvPicPr>
          <p:nvPr/>
        </p:nvPicPr>
        <p:blipFill rotWithShape="1">
          <a:blip r:embed="rId2"/>
          <a:srcRect r="21312"/>
          <a:stretch/>
        </p:blipFill>
        <p:spPr>
          <a:xfrm>
            <a:off x="7812060" y="828674"/>
            <a:ext cx="3446490" cy="4443414"/>
          </a:xfrm>
          <a:prstGeom prst="rect">
            <a:avLst/>
          </a:prstGeom>
        </p:spPr>
      </p:pic>
    </p:spTree>
    <p:extLst>
      <p:ext uri="{BB962C8B-B14F-4D97-AF65-F5344CB8AC3E}">
        <p14:creationId xmlns:p14="http://schemas.microsoft.com/office/powerpoint/2010/main" val="122432898"/>
      </p:ext>
    </p:extLst>
  </p:cSld>
  <p:clrMapOvr>
    <a:masterClrMapping/>
  </p:clrMapOvr>
</p:sld>
</file>

<file path=ppt/theme/theme1.xml><?xml version="1.0" encoding="utf-8"?>
<a:theme xmlns:a="http://schemas.openxmlformats.org/drawingml/2006/main" name="Galería">
  <a:themeElements>
    <a:clrScheme name="Galería">
      <a:dk1>
        <a:sysClr val="windowText" lastClr="000000"/>
      </a:dk1>
      <a:lt1>
        <a:sysClr val="window" lastClr="FFFFFF"/>
      </a:lt1>
      <a:dk2>
        <a:srgbClr val="454545"/>
      </a:dk2>
      <a:lt2>
        <a:srgbClr val="DCDCE0"/>
      </a:lt2>
      <a:accent1>
        <a:srgbClr val="415588"/>
      </a:accent1>
      <a:accent2>
        <a:srgbClr val="4294B6"/>
      </a:accent2>
      <a:accent3>
        <a:srgbClr val="087D7C"/>
      </a:accent3>
      <a:accent4>
        <a:srgbClr val="2CB663"/>
      </a:accent4>
      <a:accent5>
        <a:srgbClr val="DF8822"/>
      </a:accent5>
      <a:accent6>
        <a:srgbClr val="BC410A"/>
      </a:accent6>
      <a:hlink>
        <a:srgbClr val="5977C4"/>
      </a:hlink>
      <a:folHlink>
        <a:srgbClr val="A1A9BF"/>
      </a:folHlink>
    </a:clrScheme>
    <a:fontScheme name="Galería">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ía">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docProps/app.xml><?xml version="1.0" encoding="utf-8"?>
<Properties xmlns="http://schemas.openxmlformats.org/officeDocument/2006/extended-properties" xmlns:vt="http://schemas.openxmlformats.org/officeDocument/2006/docPropsVTypes">
  <Template>Gallery</Template>
  <TotalTime>11</TotalTime>
  <Words>364</Words>
  <Application>Microsoft Office PowerPoint</Application>
  <PresentationFormat>Panorámica</PresentationFormat>
  <Paragraphs>10</Paragraphs>
  <Slides>5</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5</vt:i4>
      </vt:variant>
    </vt:vector>
  </HeadingPairs>
  <TitlesOfParts>
    <vt:vector size="8" baseType="lpstr">
      <vt:lpstr>Arial</vt:lpstr>
      <vt:lpstr>Century Gothic</vt:lpstr>
      <vt:lpstr>Galería</vt:lpstr>
      <vt:lpstr>Declaración de las Naciones Unidas sobre los Derechos de los Pueblos Indígenas (2007)</vt:lpstr>
      <vt:lpstr>Reconocimiento de tierras ancestrales</vt:lpstr>
      <vt:lpstr>Creación de la Organización Nacional Indígena de Colombia (ONIC)</vt:lpstr>
      <vt:lpstr>Participación en la Conferencia Mundial sobre los Pueblos Indígenas (2014)</vt:lpstr>
      <vt:lpstr>Movimientos contra la explotación de recursos naturales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Declaración de las Naciones Unidas sobre los Derechos de los Pueblos Indígenas (2007)</dc:title>
  <dc:creator>HP</dc:creator>
  <cp:lastModifiedBy>HP</cp:lastModifiedBy>
  <cp:revision>2</cp:revision>
  <dcterms:created xsi:type="dcterms:W3CDTF">2024-06-13T00:24:16Z</dcterms:created>
  <dcterms:modified xsi:type="dcterms:W3CDTF">2024-06-13T00:35:18Z</dcterms:modified>
</cp:coreProperties>
</file>