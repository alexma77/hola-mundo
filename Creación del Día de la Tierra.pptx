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D56CB0C-ACB4-4544-92AD-D5A8E70098AD}" type="datetimeFigureOut">
              <a:rPr lang="es-EC" smtClean="0"/>
              <a:t>12/6/2024</a:t>
            </a:fld>
            <a:endParaRPr lang="es-EC"/>
          </a:p>
        </p:txBody>
      </p:sp>
      <p:sp>
        <p:nvSpPr>
          <p:cNvPr id="5" name="Footer Placeholder 4"/>
          <p:cNvSpPr>
            <a:spLocks noGrp="1"/>
          </p:cNvSpPr>
          <p:nvPr>
            <p:ph type="ftr" sz="quarter" idx="11"/>
          </p:nvPr>
        </p:nvSpPr>
        <p:spPr>
          <a:xfrm>
            <a:off x="1451579" y="329307"/>
            <a:ext cx="5626774" cy="309201"/>
          </a:xfrm>
        </p:spPr>
        <p:txBody>
          <a:bodyPr/>
          <a:lstStyle/>
          <a:p>
            <a:endParaRPr lang="es-EC"/>
          </a:p>
        </p:txBody>
      </p:sp>
      <p:sp>
        <p:nvSpPr>
          <p:cNvPr id="6" name="Slide Number Placeholder 5"/>
          <p:cNvSpPr>
            <a:spLocks noGrp="1"/>
          </p:cNvSpPr>
          <p:nvPr>
            <p:ph type="sldNum" sz="quarter" idx="12"/>
          </p:nvPr>
        </p:nvSpPr>
        <p:spPr>
          <a:xfrm>
            <a:off x="476834" y="798973"/>
            <a:ext cx="811019" cy="503578"/>
          </a:xfrm>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3012884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D56CB0C-ACB4-4544-92AD-D5A8E70098AD}"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1776536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D56CB0C-ACB4-4544-92AD-D5A8E70098AD}"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1425596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D56CB0C-ACB4-4544-92AD-D5A8E70098AD}"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1882373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447191" y="2824269"/>
            <a:ext cx="4488794" cy="264445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56025" y="2821491"/>
            <a:ext cx="4488794" cy="263737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D56CB0C-ACB4-4544-92AD-D5A8E70098AD}" type="datetimeFigureOut">
              <a:rPr lang="es-EC" smtClean="0"/>
              <a:t>12/6/2024</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1721500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D56CB0C-ACB4-4544-92AD-D5A8E70098AD}" type="datetimeFigureOut">
              <a:rPr lang="es-EC" smtClean="0"/>
              <a:t>12/6/2024</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690343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56CB0C-ACB4-4544-92AD-D5A8E70098AD}" type="datetimeFigureOut">
              <a:rPr lang="es-EC" smtClean="0"/>
              <a:t>12/6/2024</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2676731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D56CB0C-ACB4-4544-92AD-D5A8E70098AD}" type="datetimeFigureOut">
              <a:rPr lang="es-EC" smtClean="0"/>
              <a:t>12/6/2024</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1085540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s-ES"/>
              <a:t>Haga clic en el icono para agregar una imagen</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D56CB0C-ACB4-4544-92AD-D5A8E70098AD}" type="datetimeFigureOut">
              <a:rPr lang="es-EC" smtClean="0"/>
              <a:t>12/6/2024</a:t>
            </a:fld>
            <a:endParaRPr lang="es-EC"/>
          </a:p>
        </p:txBody>
      </p:sp>
      <p:sp>
        <p:nvSpPr>
          <p:cNvPr id="6" name="Footer Placeholder 5"/>
          <p:cNvSpPr>
            <a:spLocks noGrp="1"/>
          </p:cNvSpPr>
          <p:nvPr>
            <p:ph type="ftr" sz="quarter" idx="11"/>
          </p:nvPr>
        </p:nvSpPr>
        <p:spPr>
          <a:xfrm>
            <a:off x="1447382" y="318640"/>
            <a:ext cx="5541004" cy="320931"/>
          </a:xfrm>
        </p:spPr>
        <p:txBody>
          <a:bodyPr/>
          <a:lstStyle/>
          <a:p>
            <a:endParaRPr lang="es-EC"/>
          </a:p>
        </p:txBody>
      </p:sp>
      <p:sp>
        <p:nvSpPr>
          <p:cNvPr id="7" name="Slide Number Placeholder 6"/>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78795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D56CB0C-ACB4-4544-92AD-D5A8E70098AD}"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2425845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D56CB0C-ACB4-4544-92AD-D5A8E70098AD}" type="datetimeFigureOut">
              <a:rPr lang="es-EC" smtClean="0"/>
              <a:t>12/6/2024</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B3347F42-C5F3-4A50-879D-643217B79704}" type="slidenum">
              <a:rPr lang="es-EC" smtClean="0"/>
              <a:t>‹Nº›</a:t>
            </a:fld>
            <a:endParaRPr lang="es-EC"/>
          </a:p>
        </p:txBody>
      </p:sp>
    </p:spTree>
    <p:extLst>
      <p:ext uri="{BB962C8B-B14F-4D97-AF65-F5344CB8AC3E}">
        <p14:creationId xmlns:p14="http://schemas.microsoft.com/office/powerpoint/2010/main" val="406655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D56CB0C-ACB4-4544-92AD-D5A8E70098AD}" type="datetimeFigureOut">
              <a:rPr lang="es-EC" smtClean="0"/>
              <a:t>12/6/2024</a:t>
            </a:fld>
            <a:endParaRPr lang="es-EC"/>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EC"/>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3347F42-C5F3-4A50-879D-643217B79704}" type="slidenum">
              <a:rPr lang="es-EC" smtClean="0"/>
              <a:t>‹Nº›</a:t>
            </a:fld>
            <a:endParaRPr lang="es-EC"/>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47483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06C74F-2649-41A9-830C-FD0E56D58FC9}"/>
              </a:ext>
            </a:extLst>
          </p:cNvPr>
          <p:cNvSpPr>
            <a:spLocks noGrp="1"/>
          </p:cNvSpPr>
          <p:nvPr>
            <p:ph type="title"/>
          </p:nvPr>
        </p:nvSpPr>
        <p:spPr>
          <a:xfrm>
            <a:off x="1451206" y="1129512"/>
            <a:ext cx="5532328" cy="1470813"/>
          </a:xfrm>
        </p:spPr>
        <p:txBody>
          <a:bodyPr/>
          <a:lstStyle/>
          <a:p>
            <a:r>
              <a:rPr lang="es-MX" dirty="0"/>
              <a:t>Creación del Día de la Tierra</a:t>
            </a:r>
            <a:endParaRPr lang="es-EC" dirty="0"/>
          </a:p>
        </p:txBody>
      </p:sp>
      <p:sp>
        <p:nvSpPr>
          <p:cNvPr id="3" name="Subtítulo 2">
            <a:extLst>
              <a:ext uri="{FF2B5EF4-FFF2-40B4-BE49-F238E27FC236}">
                <a16:creationId xmlns:a16="http://schemas.microsoft.com/office/drawing/2014/main" id="{36A4B73E-15B2-4864-948C-1F6FE34A456B}"/>
              </a:ext>
            </a:extLst>
          </p:cNvPr>
          <p:cNvSpPr>
            <a:spLocks noGrp="1"/>
          </p:cNvSpPr>
          <p:nvPr>
            <p:ph type="body" sz="half" idx="2"/>
          </p:nvPr>
        </p:nvSpPr>
        <p:spPr>
          <a:xfrm>
            <a:off x="1450329" y="2814638"/>
            <a:ext cx="5524404" cy="2335096"/>
          </a:xfrm>
        </p:spPr>
        <p:txBody>
          <a:bodyPr>
            <a:normAutofit lnSpcReduction="10000"/>
          </a:bodyPr>
          <a:lstStyle/>
          <a:p>
            <a:r>
              <a:rPr lang="es-MX" dirty="0"/>
              <a:t>El Día de la Tierra, celebrado por primera vez el 22 de abril de 1970, fue uno de los mayores logros del movimiento ecologista. Este día promueve la conciencia ambiental y la acción para proteger el medio ambiente. Fue fundamental en la sensibilización pública sobre la importancia de la conservación y la protección del planeta.</a:t>
            </a:r>
            <a:endParaRPr lang="es-EC" dirty="0"/>
          </a:p>
        </p:txBody>
      </p:sp>
      <p:pic>
        <p:nvPicPr>
          <p:cNvPr id="5" name="Imagen 4">
            <a:extLst>
              <a:ext uri="{FF2B5EF4-FFF2-40B4-BE49-F238E27FC236}">
                <a16:creationId xmlns:a16="http://schemas.microsoft.com/office/drawing/2014/main" id="{D90DACE8-18E4-4936-AAF7-269E83C02714}"/>
              </a:ext>
            </a:extLst>
          </p:cNvPr>
          <p:cNvPicPr>
            <a:picLocks noChangeAspect="1"/>
          </p:cNvPicPr>
          <p:nvPr/>
        </p:nvPicPr>
        <p:blipFill rotWithShape="1">
          <a:blip r:embed="rId2"/>
          <a:srcRect l="8928" r="32942"/>
          <a:stretch/>
        </p:blipFill>
        <p:spPr>
          <a:xfrm>
            <a:off x="7758112" y="756438"/>
            <a:ext cx="3486126" cy="4558512"/>
          </a:xfrm>
          <a:prstGeom prst="rect">
            <a:avLst/>
          </a:prstGeom>
        </p:spPr>
      </p:pic>
    </p:spTree>
    <p:extLst>
      <p:ext uri="{BB962C8B-B14F-4D97-AF65-F5344CB8AC3E}">
        <p14:creationId xmlns:p14="http://schemas.microsoft.com/office/powerpoint/2010/main" val="577631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30B9F6-D438-4D4A-A7B4-3919ED1C55FA}"/>
              </a:ext>
            </a:extLst>
          </p:cNvPr>
          <p:cNvSpPr>
            <a:spLocks noGrp="1"/>
          </p:cNvSpPr>
          <p:nvPr>
            <p:ph type="title"/>
          </p:nvPr>
        </p:nvSpPr>
        <p:spPr>
          <a:xfrm>
            <a:off x="1774423" y="257176"/>
            <a:ext cx="8643154" cy="1900237"/>
          </a:xfrm>
        </p:spPr>
        <p:txBody>
          <a:bodyPr>
            <a:normAutofit/>
          </a:bodyPr>
          <a:lstStyle/>
          <a:p>
            <a:r>
              <a:rPr lang="es-MX" dirty="0"/>
              <a:t>Establecimiento de la Agencia de Protección Ambiental (EPA)</a:t>
            </a:r>
            <a:endParaRPr lang="es-EC" dirty="0"/>
          </a:p>
        </p:txBody>
      </p:sp>
      <p:sp>
        <p:nvSpPr>
          <p:cNvPr id="3" name="Subtítulo 2">
            <a:extLst>
              <a:ext uri="{FF2B5EF4-FFF2-40B4-BE49-F238E27FC236}">
                <a16:creationId xmlns:a16="http://schemas.microsoft.com/office/drawing/2014/main" id="{A32810C2-63D6-48D1-B063-4EEECCF213EB}"/>
              </a:ext>
            </a:extLst>
          </p:cNvPr>
          <p:cNvSpPr>
            <a:spLocks noGrp="1"/>
          </p:cNvSpPr>
          <p:nvPr>
            <p:ph type="body" idx="1"/>
          </p:nvPr>
        </p:nvSpPr>
        <p:spPr>
          <a:xfrm>
            <a:off x="1774423" y="2500313"/>
            <a:ext cx="8643154" cy="2314575"/>
          </a:xfrm>
        </p:spPr>
        <p:txBody>
          <a:bodyPr>
            <a:normAutofit/>
          </a:bodyPr>
          <a:lstStyle/>
          <a:p>
            <a:r>
              <a:rPr lang="es-MX" dirty="0"/>
              <a:t>En 1970, en respuesta a la creciente preocupación por los problemas ambientales, el gobierno de los Estados Unidos estableció la Agencia de Protección Ambiental (EPA). La EPA se encarga de regular y hacer cumplir las leyes ambientales, y ha jugado un papel crucial en la mejora de la calidad del aire y el agua, así como en la reducción de la contaminación.</a:t>
            </a:r>
            <a:endParaRPr lang="es-EC" dirty="0"/>
          </a:p>
        </p:txBody>
      </p:sp>
      <p:pic>
        <p:nvPicPr>
          <p:cNvPr id="4" name="Imagen 3">
            <a:extLst>
              <a:ext uri="{FF2B5EF4-FFF2-40B4-BE49-F238E27FC236}">
                <a16:creationId xmlns:a16="http://schemas.microsoft.com/office/drawing/2014/main" id="{3E0C6421-1C3F-4501-9F7A-4B8EE266CDE4}"/>
              </a:ext>
            </a:extLst>
          </p:cNvPr>
          <p:cNvPicPr>
            <a:picLocks noChangeAspect="1"/>
          </p:cNvPicPr>
          <p:nvPr/>
        </p:nvPicPr>
        <p:blipFill>
          <a:blip r:embed="rId2"/>
          <a:stretch>
            <a:fillRect/>
          </a:stretch>
        </p:blipFill>
        <p:spPr>
          <a:xfrm>
            <a:off x="5024437" y="4457699"/>
            <a:ext cx="2143125" cy="2143125"/>
          </a:xfrm>
          <a:prstGeom prst="rect">
            <a:avLst/>
          </a:prstGeom>
        </p:spPr>
      </p:pic>
    </p:spTree>
    <p:extLst>
      <p:ext uri="{BB962C8B-B14F-4D97-AF65-F5344CB8AC3E}">
        <p14:creationId xmlns:p14="http://schemas.microsoft.com/office/powerpoint/2010/main" val="2257541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5642C-43E4-4E88-9E15-17440CD49465}"/>
              </a:ext>
            </a:extLst>
          </p:cNvPr>
          <p:cNvSpPr>
            <a:spLocks noGrp="1"/>
          </p:cNvSpPr>
          <p:nvPr>
            <p:ph type="title"/>
          </p:nvPr>
        </p:nvSpPr>
        <p:spPr/>
        <p:txBody>
          <a:bodyPr>
            <a:normAutofit/>
          </a:bodyPr>
          <a:lstStyle/>
          <a:p>
            <a:r>
              <a:rPr lang="es-EC" sz="3200" dirty="0"/>
              <a:t>Protocolo </a:t>
            </a:r>
            <a:r>
              <a:rPr lang="es-EC" sz="2800" dirty="0"/>
              <a:t>de</a:t>
            </a:r>
            <a:r>
              <a:rPr lang="es-EC" sz="3200" dirty="0"/>
              <a:t> Montreal</a:t>
            </a:r>
          </a:p>
        </p:txBody>
      </p:sp>
      <p:sp>
        <p:nvSpPr>
          <p:cNvPr id="3" name="Subtítulo 2">
            <a:extLst>
              <a:ext uri="{FF2B5EF4-FFF2-40B4-BE49-F238E27FC236}">
                <a16:creationId xmlns:a16="http://schemas.microsoft.com/office/drawing/2014/main" id="{8AB60563-5C28-4948-B118-E0374CAF0ABF}"/>
              </a:ext>
            </a:extLst>
          </p:cNvPr>
          <p:cNvSpPr>
            <a:spLocks noGrp="1"/>
          </p:cNvSpPr>
          <p:nvPr>
            <p:ph idx="1"/>
          </p:nvPr>
        </p:nvSpPr>
        <p:spPr/>
        <p:txBody>
          <a:bodyPr>
            <a:normAutofit/>
          </a:bodyPr>
          <a:lstStyle/>
          <a:p>
            <a:r>
              <a:rPr lang="es-MX" dirty="0"/>
              <a:t>El Protocolo de Montreal, firmado en 1987, es uno de los tratados internacionales más exitosos en la historia de la protección ambiental. Su objetivo es reducir y eliminar el uso de sustancias que agotan la capa de ozono. Gracias a este acuerdo, la capa de ozono ha comenzado a recuperarse, demostrando el poder de la cooperación global.</a:t>
            </a:r>
            <a:endParaRPr lang="es-EC" dirty="0"/>
          </a:p>
        </p:txBody>
      </p:sp>
      <p:pic>
        <p:nvPicPr>
          <p:cNvPr id="5" name="Imagen 4">
            <a:extLst>
              <a:ext uri="{FF2B5EF4-FFF2-40B4-BE49-F238E27FC236}">
                <a16:creationId xmlns:a16="http://schemas.microsoft.com/office/drawing/2014/main" id="{18BA9713-3E20-42DB-8407-C152CA09DA78}"/>
              </a:ext>
            </a:extLst>
          </p:cNvPr>
          <p:cNvPicPr>
            <a:picLocks noChangeAspect="1"/>
          </p:cNvPicPr>
          <p:nvPr/>
        </p:nvPicPr>
        <p:blipFill>
          <a:blip r:embed="rId2"/>
          <a:stretch>
            <a:fillRect/>
          </a:stretch>
        </p:blipFill>
        <p:spPr>
          <a:xfrm>
            <a:off x="683160" y="3205491"/>
            <a:ext cx="4204327" cy="2406517"/>
          </a:xfrm>
          <a:prstGeom prst="rect">
            <a:avLst/>
          </a:prstGeom>
        </p:spPr>
      </p:pic>
      <p:sp>
        <p:nvSpPr>
          <p:cNvPr id="4" name="Marcador de texto 3">
            <a:extLst>
              <a:ext uri="{FF2B5EF4-FFF2-40B4-BE49-F238E27FC236}">
                <a16:creationId xmlns:a16="http://schemas.microsoft.com/office/drawing/2014/main" id="{135C8022-6377-4057-AB65-A1C64E7B637C}"/>
              </a:ext>
            </a:extLst>
          </p:cNvPr>
          <p:cNvSpPr>
            <a:spLocks noGrp="1"/>
          </p:cNvSpPr>
          <p:nvPr>
            <p:ph type="body" sz="half" idx="2"/>
          </p:nvPr>
        </p:nvSpPr>
        <p:spPr>
          <a:xfrm>
            <a:off x="1444672" y="3205491"/>
            <a:ext cx="1855742" cy="809297"/>
          </a:xfrm>
        </p:spPr>
        <p:txBody>
          <a:bodyPr/>
          <a:lstStyle/>
          <a:p>
            <a:r>
              <a:rPr lang="es-MX" dirty="0"/>
              <a:t>  </a:t>
            </a:r>
            <a:endParaRPr lang="es-EC" dirty="0"/>
          </a:p>
        </p:txBody>
      </p:sp>
    </p:spTree>
    <p:extLst>
      <p:ext uri="{BB962C8B-B14F-4D97-AF65-F5344CB8AC3E}">
        <p14:creationId xmlns:p14="http://schemas.microsoft.com/office/powerpoint/2010/main" val="2503965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C7564F-EC4E-4485-9766-CD7C0E73586C}"/>
              </a:ext>
            </a:extLst>
          </p:cNvPr>
          <p:cNvSpPr>
            <a:spLocks noGrp="1"/>
          </p:cNvSpPr>
          <p:nvPr>
            <p:ph type="title"/>
          </p:nvPr>
        </p:nvSpPr>
        <p:spPr/>
        <p:txBody>
          <a:bodyPr/>
          <a:lstStyle/>
          <a:p>
            <a:r>
              <a:rPr lang="es-EC" dirty="0"/>
              <a:t>Prohibición de DDT</a:t>
            </a:r>
          </a:p>
        </p:txBody>
      </p:sp>
      <p:sp>
        <p:nvSpPr>
          <p:cNvPr id="3" name="Subtítulo 2">
            <a:extLst>
              <a:ext uri="{FF2B5EF4-FFF2-40B4-BE49-F238E27FC236}">
                <a16:creationId xmlns:a16="http://schemas.microsoft.com/office/drawing/2014/main" id="{B4F80363-5DE8-49D5-AE15-1671203449C8}"/>
              </a:ext>
            </a:extLst>
          </p:cNvPr>
          <p:cNvSpPr>
            <a:spLocks noGrp="1"/>
          </p:cNvSpPr>
          <p:nvPr>
            <p:ph sz="half" idx="1"/>
          </p:nvPr>
        </p:nvSpPr>
        <p:spPr/>
        <p:txBody>
          <a:bodyPr>
            <a:normAutofit fontScale="85000" lnSpcReduction="10000"/>
          </a:bodyPr>
          <a:lstStyle/>
          <a:p>
            <a:r>
              <a:rPr lang="es-MX"/>
              <a:t>El movimiento ecologista logró la prohibición del uso de DDT en muchos países en la década de 1970, después de que se descubriera que este pesticida tenía efectos devastadores en el medio ambiente y la salud humana. La prohibición del DDT es un ejemplo de cómo la investigación científica y la defensa ambiental pueden conducir a cambios significativos en las políticas.</a:t>
            </a:r>
            <a:endParaRPr lang="es-EC"/>
          </a:p>
        </p:txBody>
      </p:sp>
      <p:pic>
        <p:nvPicPr>
          <p:cNvPr id="5" name="Marcador de contenido 4">
            <a:extLst>
              <a:ext uri="{FF2B5EF4-FFF2-40B4-BE49-F238E27FC236}">
                <a16:creationId xmlns:a16="http://schemas.microsoft.com/office/drawing/2014/main" id="{5CA3E209-21FB-444A-9A9D-7997B0EC384C}"/>
              </a:ext>
            </a:extLst>
          </p:cNvPr>
          <p:cNvPicPr>
            <a:picLocks noGrp="1" noChangeAspect="1"/>
          </p:cNvPicPr>
          <p:nvPr>
            <p:ph sz="half" idx="2"/>
          </p:nvPr>
        </p:nvPicPr>
        <p:blipFill>
          <a:blip r:embed="rId2"/>
          <a:stretch>
            <a:fillRect/>
          </a:stretch>
        </p:blipFill>
        <p:spPr>
          <a:xfrm>
            <a:off x="6254750" y="2480490"/>
            <a:ext cx="4487863" cy="2516146"/>
          </a:xfrm>
          <a:prstGeom prst="rect">
            <a:avLst/>
          </a:prstGeom>
        </p:spPr>
      </p:pic>
    </p:spTree>
    <p:extLst>
      <p:ext uri="{BB962C8B-B14F-4D97-AF65-F5344CB8AC3E}">
        <p14:creationId xmlns:p14="http://schemas.microsoft.com/office/powerpoint/2010/main" val="4265257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3E24B8-D3AD-476C-AEFF-98F85954CD6E}"/>
              </a:ext>
            </a:extLst>
          </p:cNvPr>
          <p:cNvSpPr>
            <a:spLocks noGrp="1"/>
          </p:cNvSpPr>
          <p:nvPr>
            <p:ph type="title"/>
          </p:nvPr>
        </p:nvSpPr>
        <p:spPr/>
        <p:txBody>
          <a:bodyPr>
            <a:normAutofit/>
          </a:bodyPr>
          <a:lstStyle/>
          <a:p>
            <a:r>
              <a:rPr lang="es-MX" dirty="0"/>
              <a:t>Acuerdo de París sobre el Cambio Climático</a:t>
            </a:r>
            <a:endParaRPr lang="es-EC" dirty="0"/>
          </a:p>
        </p:txBody>
      </p:sp>
      <p:sp>
        <p:nvSpPr>
          <p:cNvPr id="3" name="Subtítulo 2">
            <a:extLst>
              <a:ext uri="{FF2B5EF4-FFF2-40B4-BE49-F238E27FC236}">
                <a16:creationId xmlns:a16="http://schemas.microsoft.com/office/drawing/2014/main" id="{BF60ACC5-B241-485D-8FE0-24B54DF0464E}"/>
              </a:ext>
            </a:extLst>
          </p:cNvPr>
          <p:cNvSpPr>
            <a:spLocks noGrp="1"/>
          </p:cNvSpPr>
          <p:nvPr>
            <p:ph idx="1"/>
          </p:nvPr>
        </p:nvSpPr>
        <p:spPr/>
        <p:txBody>
          <a:bodyPr>
            <a:normAutofit/>
          </a:bodyPr>
          <a:lstStyle/>
          <a:p>
            <a:r>
              <a:rPr lang="es-MX"/>
              <a:t>El Acuerdo de París, adoptado en 2015, es un pacto global para combatir el cambio climático y sus impactos. Este acuerdo une a casi todas las naciones del mundo en un esfuerzo por limitar el calentamiento global a menos de 2 grados Celsius por encima de los niveles preindustriales. Es un hito significativo en los esfuerzos globales para abordar el cambio climático.</a:t>
            </a:r>
            <a:endParaRPr lang="es-EC"/>
          </a:p>
        </p:txBody>
      </p:sp>
      <p:pic>
        <p:nvPicPr>
          <p:cNvPr id="5" name="Imagen 4">
            <a:extLst>
              <a:ext uri="{FF2B5EF4-FFF2-40B4-BE49-F238E27FC236}">
                <a16:creationId xmlns:a16="http://schemas.microsoft.com/office/drawing/2014/main" id="{5B920945-DBC9-4F92-A44B-7F7CE073CA2B}"/>
              </a:ext>
            </a:extLst>
          </p:cNvPr>
          <p:cNvPicPr>
            <a:picLocks noChangeAspect="1"/>
          </p:cNvPicPr>
          <p:nvPr/>
        </p:nvPicPr>
        <p:blipFill>
          <a:blip r:embed="rId2"/>
          <a:stretch>
            <a:fillRect/>
          </a:stretch>
        </p:blipFill>
        <p:spPr>
          <a:xfrm>
            <a:off x="806059" y="3205491"/>
            <a:ext cx="3924265" cy="2406518"/>
          </a:xfrm>
          <a:prstGeom prst="rect">
            <a:avLst/>
          </a:prstGeom>
        </p:spPr>
      </p:pic>
      <p:sp>
        <p:nvSpPr>
          <p:cNvPr id="4" name="Marcador de texto 3">
            <a:extLst>
              <a:ext uri="{FF2B5EF4-FFF2-40B4-BE49-F238E27FC236}">
                <a16:creationId xmlns:a16="http://schemas.microsoft.com/office/drawing/2014/main" id="{DF1F688E-7C70-46B4-81C6-03234652A75B}"/>
              </a:ext>
            </a:extLst>
          </p:cNvPr>
          <p:cNvSpPr>
            <a:spLocks noGrp="1"/>
          </p:cNvSpPr>
          <p:nvPr>
            <p:ph type="body" sz="half" idx="2"/>
          </p:nvPr>
        </p:nvSpPr>
        <p:spPr/>
        <p:txBody>
          <a:bodyPr/>
          <a:lstStyle/>
          <a:p>
            <a:r>
              <a:rPr lang="es-MX" dirty="0"/>
              <a:t> </a:t>
            </a:r>
            <a:endParaRPr lang="es-EC" dirty="0"/>
          </a:p>
        </p:txBody>
      </p:sp>
    </p:spTree>
    <p:extLst>
      <p:ext uri="{BB962C8B-B14F-4D97-AF65-F5344CB8AC3E}">
        <p14:creationId xmlns:p14="http://schemas.microsoft.com/office/powerpoint/2010/main" val="3868944760"/>
      </p:ext>
    </p:extLst>
  </p:cSld>
  <p:clrMapOvr>
    <a:masterClrMapping/>
  </p:clrMapOvr>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ería">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14</TotalTime>
  <Words>355</Words>
  <Application>Microsoft Office PowerPoint</Application>
  <PresentationFormat>Panorámica</PresentationFormat>
  <Paragraphs>12</Paragraphs>
  <Slides>5</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vt:i4>
      </vt:variant>
    </vt:vector>
  </HeadingPairs>
  <TitlesOfParts>
    <vt:vector size="8" baseType="lpstr">
      <vt:lpstr>Arial</vt:lpstr>
      <vt:lpstr>Rockwell</vt:lpstr>
      <vt:lpstr>Galería</vt:lpstr>
      <vt:lpstr>Creación del Día de la Tierra</vt:lpstr>
      <vt:lpstr>Establecimiento de la Agencia de Protección Ambiental (EPA)</vt:lpstr>
      <vt:lpstr>Protocolo de Montreal</vt:lpstr>
      <vt:lpstr>Prohibición de DDT</vt:lpstr>
      <vt:lpstr>Acuerdo de París sobre el Cambio Climático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Creación del Día de la Tierra</dc:title>
  <dc:creator>HP</dc:creator>
  <cp:lastModifiedBy>HP</cp:lastModifiedBy>
  <cp:revision>2</cp:revision>
  <dcterms:created xsi:type="dcterms:W3CDTF">2024-06-12T23:58:06Z</dcterms:created>
  <dcterms:modified xsi:type="dcterms:W3CDTF">2024-06-13T00:12:38Z</dcterms:modified>
</cp:coreProperties>
</file>